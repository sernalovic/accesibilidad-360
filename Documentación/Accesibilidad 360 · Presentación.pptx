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manual de usuario de Accesibilidad 360. Todas las capturas proceden de una instancia local con datos ficticios.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 central: la información la pone la comunidad. La app no certifica nada; reúne experiencias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Existe también el rol Moderador en la base de datos, pero el manual documenta solo Usuario y Administrador.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la única pantalla útil sin sesión iniciada, junto a los textos legales.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mensaje genérico es una decisión de seguridad deliberada. La captura de la izquierda muestra el formulario enviado vacío.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Primera pantalla tras iniciar sesión. Los datos de la captura son ficticios.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tarjeta enseña foto, nombre, categoría, lugar y nota media. Ver ficha abre el detalle.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 la información de un lugar en una sola página, de arriba abajo.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criterios marcados como No aplicable no cuentan para la media. Hay que puntuar al menos un criterio.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Recordar la privacidad: no subir imágenes con personas reconocibles sin su consentimiento. Quien sube una foto o un administrador pueden eliminarla.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Solo la persona que creó la ficha o un administrador pueden editarla o eliminarla. Una dirección incompleta puede dejar el lugar sin ubicación exacta.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la captura el fondo del mapa es genérico porque se tomó sin conexión a OpenStreetMap. En la aplicación real se ven calles y nombres.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correo no se puede cambiar desde esta pantalla.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número entre paréntesis es la cantidad de fichas que usan cada categoría. Los administradores también pueden editar o eliminar fichas y valoraciones ajenas.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Capturas tomadas con un viewport de 390 por 844 píxeles.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El manual completo (Word y PDF) incluye FAQ, límites y glosario.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7372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02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5501"/>
            <a:ext cx="10566400" cy="4419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7372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02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5501"/>
            <a:ext cx="10566400" cy="4419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tipo de Accesibilidad 36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849140"/>
            <a:ext cx="711200" cy="711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273814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7FD3D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TFM · DESARROLLO CON IA · BIG SCHOOL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3164780"/>
            <a:ext cx="1088339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00"/>
              </a:lnSpc>
              <a:buNone/>
            </a:pPr>
            <a:r>
              <a:rPr lang="en-US" sz="8000" b="1" i="0" dirty="0">
                <a:solidFill>
                  <a:srgbClr val="F4F6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Accesibilidad 360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812800" y="4409380"/>
            <a:ext cx="10883392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>
                <a:solidFill>
                  <a:srgbClr val="C9D6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Cómo se usa la aplicación, paso a paso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12800" y="6220520"/>
            <a:ext cx="71945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2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Jorge Serna · Octubre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E7C8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APLICACIÓN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73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Saber si un sitio es accesible antes de ir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625501"/>
            <a:ext cx="10883392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Plataforma web colaborativa: las personas que ya han visitado un establecimiento cuentan cómo es de accesible, con notas, fotografías y comentarios.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5975" y="2537916"/>
            <a:ext cx="3380284" cy="2178050"/>
          </a:xfrm>
          <a:prstGeom prst="roundRect">
            <a:avLst>
              <a:gd name="adj" fmla="val 4519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6" name="Image 0" descr="Search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3150" y="2795091"/>
            <a:ext cx="355600" cy="355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3150" y="3252291"/>
            <a:ext cx="295191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02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Consulta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73150" y="3658691"/>
            <a:ext cx="295191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Fichas con valoraciones, puntuaciones y datos útiles.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405809" y="2537916"/>
            <a:ext cx="3380383" cy="2178050"/>
          </a:xfrm>
          <a:prstGeom prst="roundRect">
            <a:avLst>
              <a:gd name="adj" fmla="val 4519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0" name="Image 1" descr="Sta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2984" y="2795091"/>
            <a:ext cx="355600" cy="355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2984" y="3252291"/>
            <a:ext cx="295201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02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Valora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662984" y="3658691"/>
            <a:ext cx="295201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Ocho criterios de accesibilidad, puntuados de 0 a 5.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7995741" y="2537916"/>
            <a:ext cx="3380284" cy="2178050"/>
          </a:xfrm>
          <a:prstGeom prst="roundRect">
            <a:avLst>
              <a:gd name="adj" fmla="val 4519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4" name="Image 2" descr="Glob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52916" y="2795091"/>
            <a:ext cx="355600" cy="355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52916" y="3252291"/>
            <a:ext cx="295191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02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Explora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8252916" y="3658691"/>
            <a:ext cx="295191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Mapa colaborativo con los establecimientos de la comunidad.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Accesibilidad 360 · Manual de usuario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E7C8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QUIÉN LA USA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73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Tres perfiles, tres niveles de acceso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628676"/>
            <a:ext cx="3380284" cy="1746250"/>
          </a:xfrm>
          <a:prstGeom prst="roundRect">
            <a:avLst>
              <a:gd name="adj" fmla="val 5636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1885851"/>
            <a:ext cx="295191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02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Visitante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3150" y="2317651"/>
            <a:ext cx="295191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 cuenta. Ve la página de presentación y los textos legales.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5809" y="1628676"/>
            <a:ext cx="3380383" cy="1746250"/>
          </a:xfrm>
          <a:prstGeom prst="roundRect">
            <a:avLst>
              <a:gd name="adj" fmla="val 5636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2984" y="1885851"/>
            <a:ext cx="295201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02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 usuaria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62984" y="2317651"/>
            <a:ext cx="2952014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Consulta fichas, valora, sube fotografías y crea establecimientos.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95741" y="1628676"/>
            <a:ext cx="3380284" cy="1746250"/>
          </a:xfrm>
          <a:prstGeom prst="roundRect">
            <a:avLst>
              <a:gd name="adj" fmla="val 5636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2916" y="1885851"/>
            <a:ext cx="295191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02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Administración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52916" y="2317651"/>
            <a:ext cx="295191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Además gestiona las categorías y puede moderar contenido ajeno.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Accesibilidad 360 · Manual de usuario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E7C8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PRIMEROS PASOS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73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página de inicio</a:t>
            </a:r>
            <a:endParaRPr lang="en-US" sz="3200" dirty="0"/>
          </a:p>
        </p:txBody>
      </p:sp>
      <p:pic>
        <p:nvPicPr>
          <p:cNvPr id="4" name="Image 0" descr="Página de inicio de Accesibilidad 360 con el título, tres tarjetas de funciones y la sección Cómo funciona">    </p:cNvPr>
          <p:cNvPicPr>
            <a:picLocks noChangeAspect="1"/>
          </p:cNvPicPr>
          <p:nvPr/>
        </p:nvPicPr>
        <p:blipFill>
          <a:blip r:embed="rId1"/>
          <a:srcRect l="0" r="0" t="-27" b="-27"/>
          <a:stretch/>
        </p:blipFill>
        <p:spPr>
          <a:xfrm>
            <a:off x="819150" y="1581051"/>
            <a:ext cx="4114800" cy="4051300"/>
          </a:xfrm>
          <a:prstGeom prst="roundRect">
            <a:avLst>
              <a:gd name="adj" fmla="val 1724"/>
            </a:avLst>
          </a:prstGeom>
          <a:effectLst>
            <a:outerShdw sx="100000" sy="100000" kx="0" ky="0" algn="bl" rotWithShape="0" blurRad="203200" dist="76200" dir="5400000">
              <a:srgbClr val="102445">
                <a:alpha val="16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15975" y="1577876"/>
            <a:ext cx="4121150" cy="4057650"/>
          </a:xfrm>
          <a:prstGeom prst="roundRect">
            <a:avLst>
              <a:gd name="adj" fmla="val 1800"/>
            </a:avLst>
          </a:prstGeom>
          <a:noFill/>
          <a:ln w="6350">
            <a:solidFill>
              <a:srgbClr val="D5DC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46700" y="2584450"/>
            <a:ext cx="6213475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Explica qué es la aplicación y qué información encontrarás en cada ficha.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346700" y="3366691"/>
            <a:ext cx="6213475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Arriba a la derecha:</a:t>
            </a:r>
            <a:r>
              <a:rPr lang="en-US" sz="17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Iniciar sesión y Crear cuenta.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346700" y="3846711"/>
            <a:ext cx="6213475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el centro:</a:t>
            </a:r>
            <a:r>
              <a:rPr lang="en-US" sz="17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cómo funciona, en tres pasos.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346700" y="4326731"/>
            <a:ext cx="6213475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 final:</a:t>
            </a:r>
            <a:r>
              <a:rPr lang="en-US" sz="17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la lista de criterios que se valoran.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Accesibilidad 360 · Manual de usuario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E7C8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PRIMEROS PASOS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73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Crear la cuenta e iniciar sesión</a:t>
            </a:r>
            <a:endParaRPr lang="en-US" sz="3200" dirty="0"/>
          </a:p>
        </p:txBody>
      </p:sp>
      <p:pic>
        <p:nvPicPr>
          <p:cNvPr id="4" name="Image 0" descr="Formulario de registro con los errores de validación en rojo">    </p:cNvPr>
          <p:cNvPicPr>
            <a:picLocks noChangeAspect="1"/>
          </p:cNvPicPr>
          <p:nvPr/>
        </p:nvPicPr>
        <p:blipFill>
          <a:blip r:embed="rId1"/>
          <a:srcRect l="-75" r="-75" t="0" b="0"/>
          <a:stretch/>
        </p:blipFill>
        <p:spPr>
          <a:xfrm>
            <a:off x="819150" y="1581051"/>
            <a:ext cx="5118100" cy="2876550"/>
          </a:xfrm>
          <a:prstGeom prst="roundRect">
            <a:avLst>
              <a:gd name="adj" fmla="val 2428"/>
            </a:avLst>
          </a:prstGeom>
          <a:effectLst>
            <a:outerShdw sx="100000" sy="100000" kx="0" ky="0" algn="bl" rotWithShape="0" blurRad="203200" dist="76200" dir="5400000">
              <a:srgbClr val="102445">
                <a:alpha val="16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15975" y="1577876"/>
            <a:ext cx="5124450" cy="2882900"/>
          </a:xfrm>
          <a:prstGeom prst="roundRect">
            <a:avLst>
              <a:gd name="adj" fmla="val 2533"/>
            </a:avLst>
          </a:prstGeom>
          <a:noFill/>
          <a:ln w="6350">
            <a:solidFill>
              <a:srgbClr val="D5DC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2800" y="4616351"/>
            <a:ext cx="528472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Registro:</a:t>
            </a:r>
            <a:r>
              <a:rPr lang="en-US" sz="15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nombre, correo y contraseña de al menos 12 caracteres con mayúscula, minúscula y número.</a:t>
            </a:r>
            <a:endParaRPr lang="en-US" sz="1500" dirty="0"/>
          </a:p>
        </p:txBody>
      </p:sp>
      <p:pic>
        <p:nvPicPr>
          <p:cNvPr id="7" name="Image 1" descr="Formulario de inicio de sesión">    </p:cNvPr>
          <p:cNvPicPr>
            <a:picLocks noChangeAspect="1"/>
          </p:cNvPicPr>
          <p:nvPr/>
        </p:nvPicPr>
        <p:blipFill>
          <a:blip r:embed="rId2"/>
          <a:srcRect l="-160" r="-160" t="0" b="0"/>
          <a:stretch/>
        </p:blipFill>
        <p:spPr>
          <a:xfrm>
            <a:off x="6254750" y="1581051"/>
            <a:ext cx="5118100" cy="2235200"/>
          </a:xfrm>
          <a:prstGeom prst="roundRect">
            <a:avLst>
              <a:gd name="adj" fmla="val 3125"/>
            </a:avLst>
          </a:prstGeom>
          <a:effectLst>
            <a:outerShdw sx="100000" sy="100000" kx="0" ky="0" algn="bl" rotWithShape="0" blurRad="203200" dist="76200" dir="5400000">
              <a:srgbClr val="102445">
                <a:alpha val="16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6251575" y="1577876"/>
            <a:ext cx="5124450" cy="2241550"/>
          </a:xfrm>
          <a:prstGeom prst="roundRect">
            <a:avLst>
              <a:gd name="adj" fmla="val 3258"/>
            </a:avLst>
          </a:prstGeom>
          <a:noFill/>
          <a:ln w="6350">
            <a:solidFill>
              <a:srgbClr val="D5DCE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248400" y="3975001"/>
            <a:ext cx="528472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Acceso:</a:t>
            </a:r>
            <a:r>
              <a:rPr lang="en-US" sz="15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correo y contraseña. Si fallan, el mensaje es genérico y no dice cuál de los dos es.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Accesibilidad 360 · Manual de usuario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E7C8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USO DIARIO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73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panel principal</a:t>
            </a:r>
            <a:endParaRPr lang="en-US" sz="3200" dirty="0"/>
          </a:p>
        </p:txBody>
      </p:sp>
      <p:pic>
        <p:nvPicPr>
          <p:cNvPr id="4" name="Image 0" descr="Panel principal con cuatro contadores y tarjetas de los últimos establecimientos">    </p:cNvPr>
          <p:cNvPicPr>
            <a:picLocks noChangeAspect="1"/>
          </p:cNvPicPr>
          <p:nvPr/>
        </p:nvPicPr>
        <p:blipFill>
          <a:blip r:embed="rId1"/>
          <a:srcRect l="-35" r="-35" t="0" b="0"/>
          <a:stretch/>
        </p:blipFill>
        <p:spPr>
          <a:xfrm>
            <a:off x="819150" y="1581051"/>
            <a:ext cx="4718050" cy="4051300"/>
          </a:xfrm>
          <a:prstGeom prst="roundRect">
            <a:avLst>
              <a:gd name="adj" fmla="val 1724"/>
            </a:avLst>
          </a:prstGeom>
          <a:effectLst>
            <a:outerShdw sx="100000" sy="100000" kx="0" ky="0" algn="bl" rotWithShape="0" blurRad="203200" dist="76200" dir="5400000">
              <a:srgbClr val="102445">
                <a:alpha val="16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15975" y="1577876"/>
            <a:ext cx="4724400" cy="4057650"/>
          </a:xfrm>
          <a:prstGeom prst="roundRect">
            <a:avLst>
              <a:gd name="adj" fmla="val 1800"/>
            </a:avLst>
          </a:prstGeom>
          <a:noFill/>
          <a:ln w="6350">
            <a:solidFill>
              <a:srgbClr val="D5DC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9950" y="2673350"/>
            <a:ext cx="5592128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Cuatro contadores:</a:t>
            </a:r>
            <a:r>
              <a:rPr lang="en-US" sz="17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establecimientos, usuarios, valoraciones y fotografías de la plataforma.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949950" y="3455591"/>
            <a:ext cx="5592128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Últimos establecimientos:</a:t>
            </a:r>
            <a:r>
              <a:rPr lang="en-US" sz="17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foto, categoría, localidad y nota media.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949950" y="4237831"/>
            <a:ext cx="624205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Menú superior:</a:t>
            </a:r>
            <a:r>
              <a:rPr lang="en-US" sz="17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Panel, Establecimientos, Mapa y Perfil.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Accesibilidad 360 · Manual de usuario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E7C8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USO DIARIO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73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Buscar y filtrar establecimientos</a:t>
            </a:r>
            <a:endParaRPr lang="en-US" sz="3200" dirty="0"/>
          </a:p>
        </p:txBody>
      </p:sp>
      <p:pic>
        <p:nvPicPr>
          <p:cNvPr id="4" name="Image 0" descr="Listado de establecimientos con buscador, filtros y tarjetas">    </p:cNvPr>
          <p:cNvPicPr>
            <a:picLocks noChangeAspect="1"/>
          </p:cNvPicPr>
          <p:nvPr/>
        </p:nvPicPr>
        <p:blipFill>
          <a:blip r:embed="rId1"/>
          <a:srcRect l="-34" r="-34" t="0" b="0"/>
          <a:stretch/>
        </p:blipFill>
        <p:spPr>
          <a:xfrm>
            <a:off x="819150" y="1581051"/>
            <a:ext cx="5187950" cy="4051300"/>
          </a:xfrm>
          <a:prstGeom prst="roundRect">
            <a:avLst>
              <a:gd name="adj" fmla="val 1724"/>
            </a:avLst>
          </a:prstGeom>
          <a:effectLst>
            <a:outerShdw sx="100000" sy="100000" kx="0" ky="0" algn="bl" rotWithShape="0" blurRad="203200" dist="76200" dir="5400000">
              <a:srgbClr val="102445">
                <a:alpha val="16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15975" y="1577876"/>
            <a:ext cx="5194300" cy="4057650"/>
          </a:xfrm>
          <a:prstGeom prst="roundRect">
            <a:avLst>
              <a:gd name="adj" fmla="val 1800"/>
            </a:avLst>
          </a:prstGeom>
          <a:noFill/>
          <a:ln w="6350">
            <a:solidFill>
              <a:srgbClr val="D5DC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19850" y="2666901"/>
            <a:ext cx="510813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Buscar por nombre</a:t>
            </a:r>
            <a:r>
              <a:rPr lang="en-US" sz="16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con texto libre.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19850" y="3103761"/>
            <a:ext cx="5108131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Filtros:</a:t>
            </a:r>
            <a:r>
              <a:rPr lang="en-US" sz="16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categoría, provincia y municipio. El municipio se activa al elegir provincia.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19850" y="3825081"/>
            <a:ext cx="510813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Ordenar</a:t>
            </a:r>
            <a:r>
              <a:rPr lang="en-US" sz="16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por más recientes u otros criterios.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19850" y="4261941"/>
            <a:ext cx="510813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Aplicar filtros</a:t>
            </a:r>
            <a:r>
              <a:rPr lang="en-US" sz="16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y </a:t>
            </a:r>
            <a:r>
              <a:rPr lang="en-US" sz="1600" b="1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Limpiar</a:t>
            </a:r>
            <a:r>
              <a:rPr lang="en-US" sz="16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para volver a empezar.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Accesibilidad 360 · Manual de usuario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E7C8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USO DIARIO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73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ficha de un establecimiento</a:t>
            </a:r>
            <a:endParaRPr lang="en-US" sz="3200" dirty="0"/>
          </a:p>
        </p:txBody>
      </p:sp>
      <p:pic>
        <p:nvPicPr>
          <p:cNvPr id="4" name="Image 0" descr="Parte superior de una ficha con nota media, fotografía y cuadro de información">    </p:cNvPr>
          <p:cNvPicPr>
            <a:picLocks noChangeAspect="1"/>
          </p:cNvPicPr>
          <p:nvPr/>
        </p:nvPicPr>
        <p:blipFill>
          <a:blip r:embed="rId1"/>
          <a:srcRect l="-68" r="-68" t="0" b="0"/>
          <a:stretch/>
        </p:blipFill>
        <p:spPr>
          <a:xfrm>
            <a:off x="819150" y="1581051"/>
            <a:ext cx="5765800" cy="4051300"/>
          </a:xfrm>
          <a:prstGeom prst="roundRect">
            <a:avLst>
              <a:gd name="adj" fmla="val 1724"/>
            </a:avLst>
          </a:prstGeom>
          <a:effectLst>
            <a:outerShdw sx="100000" sy="100000" kx="0" ky="0" algn="bl" rotWithShape="0" blurRad="203200" dist="76200" dir="5400000">
              <a:srgbClr val="102445">
                <a:alpha val="16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15975" y="1577876"/>
            <a:ext cx="5772150" cy="4057650"/>
          </a:xfrm>
          <a:prstGeom prst="roundRect">
            <a:avLst>
              <a:gd name="adj" fmla="val 1800"/>
            </a:avLst>
          </a:prstGeom>
          <a:noFill/>
          <a:ln w="6350">
            <a:solidFill>
              <a:srgbClr val="D5DC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97700" y="2382441"/>
            <a:ext cx="451294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Cabecera:</a:t>
            </a:r>
            <a:r>
              <a:rPr lang="en-US" sz="16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categoría, nombre, nota sobre 5 y localidad.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997700" y="3103761"/>
            <a:ext cx="451294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Fotografías</a:t>
            </a:r>
            <a:r>
              <a:rPr lang="en-US" sz="16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 información: dirección, autoría y fecha.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997700" y="3825081"/>
            <a:ext cx="451294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Ubicación</a:t>
            </a:r>
            <a:r>
              <a:rPr lang="en-US" sz="16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en un mapa.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97700" y="4261941"/>
            <a:ext cx="451294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Valoraciones</a:t>
            </a:r>
            <a:r>
              <a:rPr lang="en-US" sz="16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 otras personas y tu propio formulario.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Accesibilidad 360 · Manual de usuario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E7C8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USO DIARIO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73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Valorar la accesibilidad</a:t>
            </a:r>
            <a:endParaRPr lang="en-US" sz="3200" dirty="0"/>
          </a:p>
        </p:txBody>
      </p:sp>
      <p:pic>
        <p:nvPicPr>
          <p:cNvPr id="4" name="Image 0" descr="Formulario de valoración con comentario, escala de puntuación y criterios">    </p:cNvPr>
          <p:cNvPicPr>
            <a:picLocks noChangeAspect="1"/>
          </p:cNvPicPr>
          <p:nvPr/>
        </p:nvPicPr>
        <p:blipFill>
          <a:blip r:embed="rId1"/>
          <a:srcRect l="0" r="0" t="-14" b="-14"/>
          <a:stretch/>
        </p:blipFill>
        <p:spPr>
          <a:xfrm>
            <a:off x="819150" y="1581051"/>
            <a:ext cx="4889500" cy="4051300"/>
          </a:xfrm>
          <a:prstGeom prst="roundRect">
            <a:avLst>
              <a:gd name="adj" fmla="val 1724"/>
            </a:avLst>
          </a:prstGeom>
          <a:effectLst>
            <a:outerShdw sx="100000" sy="100000" kx="0" ky="0" algn="bl" rotWithShape="0" blurRad="203200" dist="76200" dir="5400000">
              <a:srgbClr val="102445">
                <a:alpha val="16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15975" y="1577876"/>
            <a:ext cx="4895850" cy="4057650"/>
          </a:xfrm>
          <a:prstGeom prst="roundRect">
            <a:avLst>
              <a:gd name="adj" fmla="val 1800"/>
            </a:avLst>
          </a:prstGeom>
          <a:noFill/>
          <a:ln w="6350">
            <a:solidFill>
              <a:srgbClr val="D5DC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1400" y="1598811"/>
            <a:ext cx="60706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Ocho criterios, de </a:t>
            </a:r>
            <a:r>
              <a:rPr lang="en-US" sz="1600" b="1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 (muy deficiente)</a:t>
            </a:r>
            <a:r>
              <a:rPr lang="en-US" sz="16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 </a:t>
            </a:r>
            <a:r>
              <a:rPr lang="en-US" sz="1600" b="1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(excelente)</a:t>
            </a:r>
            <a:r>
              <a:rPr lang="en-US" sz="16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34100" y="2022971"/>
          <a:ext cx="5245100" cy="3233440"/>
        </p:xfrm>
        <a:graphic>
          <a:graphicData uri="http://schemas.openxmlformats.org/drawingml/2006/table">
            <a:tbl>
              <a:tblPr/>
              <a:tblGrid>
                <a:gridCol w="3671570"/>
                <a:gridCol w="1573530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B24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Criterio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4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B24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 aplicable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4E7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Acceso sin escalones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Puerta accesible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Anchura de paso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Espacio de giro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Aseo adaptado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Ascensor accesible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Sí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Aparcamiento (movilidad reducida)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Sí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Señalización accesible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121400" y="5383411"/>
            <a:ext cx="541553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6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Una valoración por persona y establecimiento.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Accesibilidad 360 · Manual de usuario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4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7FD3D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USO DIARIO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73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4F6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Subir fotografías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676301"/>
            <a:ext cx="10883392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D6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Una buena imagen de la entrada, del aseo o del acceso vale más que mil palabras. Se sube desde la propia ficha.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2800" y="2671862"/>
            <a:ext cx="3386634" cy="1490960"/>
          </a:xfrm>
          <a:prstGeom prst="roundRect">
            <a:avLst>
              <a:gd name="adj" fmla="val 6814"/>
            </a:avLst>
          </a:prstGeom>
          <a:solidFill>
            <a:srgbClr val="1B3560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2925862"/>
            <a:ext cx="2964993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7FD3D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MB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066800" y="3642122"/>
            <a:ext cx="296499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6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Peso máximo por archivo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02634" y="2671862"/>
            <a:ext cx="3386733" cy="1490960"/>
          </a:xfrm>
          <a:prstGeom prst="roundRect">
            <a:avLst>
              <a:gd name="adj" fmla="val 6814"/>
            </a:avLst>
          </a:prstGeom>
          <a:solidFill>
            <a:srgbClr val="1B3560"/>
          </a:solidFill>
          <a:ln/>
        </p:spPr>
      </p:sp>
      <p:sp>
        <p:nvSpPr>
          <p:cNvPr id="9" name="Text 7"/>
          <p:cNvSpPr/>
          <p:nvPr/>
        </p:nvSpPr>
        <p:spPr>
          <a:xfrm>
            <a:off x="4656634" y="2925862"/>
            <a:ext cx="3132733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7FD3D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800×600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656634" y="3642122"/>
            <a:ext cx="296509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6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Tamaño mínimo en píxeles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92566" y="2671862"/>
            <a:ext cx="3386634" cy="1490960"/>
          </a:xfrm>
          <a:prstGeom prst="roundRect">
            <a:avLst>
              <a:gd name="adj" fmla="val 6814"/>
            </a:avLst>
          </a:prstGeom>
          <a:solidFill>
            <a:srgbClr val="1B3560"/>
          </a:solidFill>
          <a:ln/>
        </p:spPr>
      </p:sp>
      <p:sp>
        <p:nvSpPr>
          <p:cNvPr id="12" name="Text 10"/>
          <p:cNvSpPr/>
          <p:nvPr/>
        </p:nvSpPr>
        <p:spPr>
          <a:xfrm>
            <a:off x="8246566" y="2925862"/>
            <a:ext cx="2964993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7FD3D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246566" y="3642122"/>
            <a:ext cx="313263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6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Fotografías por establecimiento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2800" y="4518422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6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Formatos admitidos: JPG, PNG y WebP. La primera imagen queda como principal.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2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Accesibilidad 360 · Manual de usuario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2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E7C8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USO DIARIO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73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Añadir un establecimiento nuevo</a:t>
            </a:r>
            <a:endParaRPr lang="en-US" sz="3200" dirty="0"/>
          </a:p>
        </p:txBody>
      </p:sp>
      <p:pic>
        <p:nvPicPr>
          <p:cNvPr id="4" name="Image 0" descr="Formulario de nuevo establecimiento con nombre, categoría, dirección, provincia y municipio">    </p:cNvPr>
          <p:cNvPicPr>
            <a:picLocks noChangeAspect="1"/>
          </p:cNvPicPr>
          <p:nvPr/>
        </p:nvPicPr>
        <p:blipFill>
          <a:blip r:embed="rId1"/>
          <a:srcRect l="-40" r="-40" t="0" b="0"/>
          <a:stretch/>
        </p:blipFill>
        <p:spPr>
          <a:xfrm>
            <a:off x="819150" y="1581051"/>
            <a:ext cx="5930900" cy="4051300"/>
          </a:xfrm>
          <a:prstGeom prst="roundRect">
            <a:avLst>
              <a:gd name="adj" fmla="val 1724"/>
            </a:avLst>
          </a:prstGeom>
          <a:effectLst>
            <a:outerShdw sx="100000" sy="100000" kx="0" ky="0" algn="bl" rotWithShape="0" blurRad="203200" dist="76200" dir="5400000">
              <a:srgbClr val="102445">
                <a:alpha val="16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15975" y="1577876"/>
            <a:ext cx="5937250" cy="4057650"/>
          </a:xfrm>
          <a:prstGeom prst="roundRect">
            <a:avLst>
              <a:gd name="adj" fmla="val 1800"/>
            </a:avLst>
          </a:prstGeom>
          <a:noFill/>
          <a:ln w="6350">
            <a:solidFill>
              <a:srgbClr val="D5DC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62800" y="2809180"/>
            <a:ext cx="43428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</a:t>
            </a:r>
            <a:r>
              <a:rPr lang="en-US" sz="16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Nueva ficha, en el listado.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162800" y="3246041"/>
            <a:ext cx="43428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</a:t>
            </a:r>
            <a:r>
              <a:rPr lang="en-US" sz="16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Nombre, categoría y dirección.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162800" y="3682901"/>
            <a:ext cx="43428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</a:t>
            </a:r>
            <a:r>
              <a:rPr lang="en-US" sz="16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Provincia y municipio.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162800" y="4119761"/>
            <a:ext cx="43428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4.</a:t>
            </a:r>
            <a:r>
              <a:rPr lang="en-US" sz="16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Guardar. La app calcula la ubicación.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Accesibilidad 360 · Manual de usuario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E7C8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USO DIARIO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73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mapa colaborativo</a:t>
            </a:r>
            <a:endParaRPr lang="en-US" sz="3200" dirty="0"/>
          </a:p>
        </p:txBody>
      </p:sp>
      <p:pic>
        <p:nvPicPr>
          <p:cNvPr id="4" name="Image 0" descr="Mapa con marcadores de establecimientos">    </p:cNvPr>
          <p:cNvPicPr>
            <a:picLocks noChangeAspect="1"/>
          </p:cNvPicPr>
          <p:nvPr/>
        </p:nvPicPr>
        <p:blipFill>
          <a:blip r:embed="rId1"/>
          <a:srcRect l="-21" r="-21" t="0" b="0"/>
          <a:stretch/>
        </p:blipFill>
        <p:spPr>
          <a:xfrm>
            <a:off x="819150" y="1581051"/>
            <a:ext cx="6477000" cy="4051300"/>
          </a:xfrm>
          <a:prstGeom prst="roundRect">
            <a:avLst>
              <a:gd name="adj" fmla="val 1724"/>
            </a:avLst>
          </a:prstGeom>
          <a:effectLst>
            <a:outerShdw sx="100000" sy="100000" kx="0" ky="0" algn="bl" rotWithShape="0" blurRad="203200" dist="76200" dir="5400000">
              <a:srgbClr val="102445">
                <a:alpha val="16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15975" y="1577876"/>
            <a:ext cx="6483350" cy="4057650"/>
          </a:xfrm>
          <a:prstGeom prst="roundRect">
            <a:avLst>
              <a:gd name="adj" fmla="val 1800"/>
            </a:avLst>
          </a:prstGeom>
          <a:noFill/>
          <a:ln w="6350">
            <a:solidFill>
              <a:srgbClr val="D5DC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08900" y="2743101"/>
            <a:ext cx="3780409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 establecimientos con coordenadas aparecen como marcadores.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08900" y="3748881"/>
            <a:ext cx="378040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Acerca, aleja y arrastra para moverte.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08900" y="4185741"/>
            <a:ext cx="378040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Pulsa un marcador para abrir su ficha.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Accesibilidad 360 · Manual de usuario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E7C8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USO DIARIO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73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 perfil</a:t>
            </a:r>
            <a:endParaRPr lang="en-US" sz="3200" dirty="0"/>
          </a:p>
        </p:txBody>
      </p:sp>
      <p:pic>
        <p:nvPicPr>
          <p:cNvPr id="4" name="Image 0" descr="Página de perfil con datos de la cuenta, cambio de nombre y contraseña, y contadores de actividad">    </p:cNvPr>
          <p:cNvPicPr>
            <a:picLocks noChangeAspect="1"/>
          </p:cNvPicPr>
          <p:nvPr/>
        </p:nvPicPr>
        <p:blipFill>
          <a:blip r:embed="rId1"/>
          <a:srcRect l="-19" r="-19" t="0" b="0"/>
          <a:stretch/>
        </p:blipFill>
        <p:spPr>
          <a:xfrm>
            <a:off x="819150" y="1581051"/>
            <a:ext cx="3556000" cy="4051300"/>
          </a:xfrm>
          <a:prstGeom prst="roundRect">
            <a:avLst>
              <a:gd name="adj" fmla="val 1964"/>
            </a:avLst>
          </a:prstGeom>
          <a:effectLst>
            <a:outerShdw sx="100000" sy="100000" kx="0" ky="0" algn="bl" rotWithShape="0" blurRad="203200" dist="76200" dir="5400000">
              <a:srgbClr val="102445">
                <a:alpha val="16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15975" y="1577876"/>
            <a:ext cx="3562350" cy="4057650"/>
          </a:xfrm>
          <a:prstGeom prst="roundRect">
            <a:avLst>
              <a:gd name="adj" fmla="val 2050"/>
            </a:avLst>
          </a:prstGeom>
          <a:noFill/>
          <a:ln w="6350">
            <a:solidFill>
              <a:srgbClr val="D5DC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87900" y="2433340"/>
            <a:ext cx="6789039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Información de la cuenta:</a:t>
            </a:r>
            <a:r>
              <a:rPr lang="en-US" sz="17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nombre, correo, rol y fecha de alta.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787900" y="2913360"/>
            <a:ext cx="6789039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Editar nombre</a:t>
            </a:r>
            <a:r>
              <a:rPr lang="en-US" sz="17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y </a:t>
            </a:r>
            <a:r>
              <a:rPr lang="en-US" sz="1700" b="1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cambiar contraseña</a:t>
            </a:r>
            <a:r>
              <a:rPr lang="en-US" sz="17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con la misma regla de 12 caracteres.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787900" y="3695601"/>
            <a:ext cx="6789039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 actividad:</a:t>
            </a:r>
            <a:r>
              <a:rPr lang="en-US" sz="17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establecimientos creados, valoraciones y fotografías.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787900" y="4477841"/>
            <a:ext cx="6789039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Cerrar sesión</a:t>
            </a:r>
            <a:r>
              <a:rPr lang="en-US" sz="17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al final de la página.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Accesibilidad 360 · Manual de usuario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E7C8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ADMINISTRACIÓN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73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Gestión de categorías</a:t>
            </a:r>
            <a:endParaRPr lang="en-US" sz="3200" dirty="0"/>
          </a:p>
        </p:txBody>
      </p:sp>
      <p:pic>
        <p:nvPicPr>
          <p:cNvPr id="4" name="Image 0" descr="Pantalla de administración con la lista de categorías y botones Editar y Eliminar">    </p:cNvPr>
          <p:cNvPicPr>
            <a:picLocks noChangeAspect="1"/>
          </p:cNvPicPr>
          <p:nvPr/>
        </p:nvPicPr>
        <p:blipFill>
          <a:blip r:embed="rId1"/>
          <a:srcRect l="-46" r="-46" t="0" b="0"/>
          <a:stretch/>
        </p:blipFill>
        <p:spPr>
          <a:xfrm>
            <a:off x="819150" y="1581051"/>
            <a:ext cx="5702300" cy="3206750"/>
          </a:xfrm>
          <a:prstGeom prst="roundRect">
            <a:avLst>
              <a:gd name="adj" fmla="val 2178"/>
            </a:avLst>
          </a:prstGeom>
          <a:effectLst>
            <a:outerShdw sx="100000" sy="100000" kx="0" ky="0" algn="bl" rotWithShape="0" blurRad="203200" dist="76200" dir="5400000">
              <a:srgbClr val="102445">
                <a:alpha val="16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15975" y="1577876"/>
            <a:ext cx="5708650" cy="3213100"/>
          </a:xfrm>
          <a:prstGeom prst="roundRect">
            <a:avLst>
              <a:gd name="adj" fmla="val 2273"/>
            </a:avLst>
          </a:prstGeom>
          <a:noFill/>
          <a:ln w="6350">
            <a:solidFill>
              <a:srgbClr val="D5DC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34200" y="2280245"/>
            <a:ext cx="45783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Crear:</a:t>
            </a:r>
            <a:r>
              <a:rPr lang="en-US" sz="16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nombre en Nueva categoría y Crear.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934200" y="2717105"/>
            <a:ext cx="45783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Renombrar:</a:t>
            </a:r>
            <a:r>
              <a:rPr lang="en-US" sz="16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botón Editar en la fila.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934200" y="3153966"/>
            <a:ext cx="45783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Eliminar:</a:t>
            </a:r>
            <a:r>
              <a:rPr lang="en-US" sz="16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solo si no tiene establecimientos.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34200" y="3590826"/>
            <a:ext cx="457835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A66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Solo para el rol Administrador. Quien no lo tiene ve «Página no encontrada».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Accesibilidad 360 · Manual de usuario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E7C8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EL MÓVIL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73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Mismas funciones, una sola columna</a:t>
            </a:r>
            <a:endParaRPr lang="en-US" sz="3200" dirty="0"/>
          </a:p>
        </p:txBody>
      </p:sp>
      <p:pic>
        <p:nvPicPr>
          <p:cNvPr id="4" name="Image 0" descr="Página de inicio en un teléfono">    </p:cNvPr>
          <p:cNvPicPr>
            <a:picLocks noChangeAspect="1"/>
          </p:cNvPicPr>
          <p:nvPr/>
        </p:nvPicPr>
        <p:blipFill>
          <a:blip r:embed="rId1"/>
          <a:srcRect l="0" r="0" t="-105" b="-105"/>
          <a:stretch/>
        </p:blipFill>
        <p:spPr>
          <a:xfrm>
            <a:off x="819150" y="1581051"/>
            <a:ext cx="1873250" cy="4051300"/>
          </a:xfrm>
          <a:prstGeom prst="roundRect">
            <a:avLst>
              <a:gd name="adj" fmla="val 3729"/>
            </a:avLst>
          </a:prstGeom>
          <a:effectLst>
            <a:outerShdw sx="100000" sy="100000" kx="0" ky="0" algn="bl" rotWithShape="0" blurRad="203200" dist="76200" dir="5400000">
              <a:srgbClr val="102445">
                <a:alpha val="16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15975" y="1577876"/>
            <a:ext cx="1879600" cy="4057650"/>
          </a:xfrm>
          <a:prstGeom prst="roundRect">
            <a:avLst>
              <a:gd name="adj" fmla="val 3885"/>
            </a:avLst>
          </a:prstGeom>
          <a:noFill/>
          <a:ln w="6350">
            <a:solidFill>
              <a:srgbClr val="D5DCE6"/>
            </a:solidFill>
            <a:prstDash val="solid"/>
          </a:ln>
        </p:spPr>
      </p:sp>
      <p:pic>
        <p:nvPicPr>
          <p:cNvPr id="6" name="Image 1" descr="Listado de establecimientos en un teléfono">    </p:cNvPr>
          <p:cNvPicPr>
            <a:picLocks noChangeAspect="1"/>
          </p:cNvPicPr>
          <p:nvPr/>
        </p:nvPicPr>
        <p:blipFill>
          <a:blip r:embed="rId2"/>
          <a:srcRect l="0" r="0" t="-105" b="-105"/>
          <a:stretch/>
        </p:blipFill>
        <p:spPr>
          <a:xfrm>
            <a:off x="3009900" y="1581051"/>
            <a:ext cx="1873250" cy="4051300"/>
          </a:xfrm>
          <a:prstGeom prst="roundRect">
            <a:avLst>
              <a:gd name="adj" fmla="val 3729"/>
            </a:avLst>
          </a:prstGeom>
          <a:effectLst>
            <a:outerShdw sx="100000" sy="100000" kx="0" ky="0" algn="bl" rotWithShape="0" blurRad="203200" dist="76200" dir="5400000">
              <a:srgbClr val="102445">
                <a:alpha val="16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3006725" y="1577876"/>
            <a:ext cx="1879600" cy="4057650"/>
          </a:xfrm>
          <a:prstGeom prst="roundRect">
            <a:avLst>
              <a:gd name="adj" fmla="val 3885"/>
            </a:avLst>
          </a:prstGeom>
          <a:noFill/>
          <a:ln w="6350">
            <a:solidFill>
              <a:srgbClr val="D5DCE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194300" y="3027561"/>
            <a:ext cx="637044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diseño se adapta al ancho de la pantalla.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194300" y="3464421"/>
            <a:ext cx="637044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Las tarjetas se apilan y el menú ocupa varias líneas.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194300" y="3901281"/>
            <a:ext cx="637044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 pueden subir fotos desde la cámara o la galería.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Accesibilidad 360 · Manual de usuario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24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726009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7FD3D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RESUMEN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193330"/>
            <a:ext cx="10883392" cy="125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4F6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Información de accesibilidad hecha por la comunidad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3676650"/>
            <a:ext cx="10883392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D6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 tu cuenta, busca un lugar, valora sus ocho criterios y sube una foto.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4123630"/>
            <a:ext cx="10883392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D6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Cuantas más experiencias, más útil para todas las personas.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4697611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2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Capturas tomadas con datos de ejemplo; ninguna persona ni establecimiento es real.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2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Jorge Serna · TFM Desarrollo con IA · Big School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2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esibilidad 360 · Presentación">
  <a:themeElements>
    <a:clrScheme name="Accesibilidad 360 · Presentación">
      <a:dk1>
        <a:srgbClr val="3B475A"/>
      </a:dk1>
      <a:lt1>
        <a:srgbClr val="F4F6F9"/>
      </a:lt1>
      <a:dk2>
        <a:srgbClr val="697382"/>
      </a:dk2>
      <a:lt2>
        <a:srgbClr val="E2E5E9"/>
      </a:lt2>
      <a:accent1>
        <a:srgbClr val="102445"/>
      </a:accent1>
      <a:accent2>
        <a:srgbClr val="0E7C86"/>
      </a:accent2>
      <a:accent3>
        <a:srgbClr val="7FD3DA"/>
      </a:accent3>
      <a:accent4>
        <a:srgbClr val="9FB2CC"/>
      </a:accent4>
      <a:accent5>
        <a:srgbClr val="1B3560"/>
      </a:accent5>
      <a:accent6>
        <a:srgbClr val="5A6678"/>
      </a:accent6>
      <a:hlink>
        <a:srgbClr val="0563C1"/>
      </a:hlink>
      <a:folHlink>
        <a:srgbClr val="954F72"/>
      </a:folHlink>
    </a:clrScheme>
    <a:fontScheme name="Accesibilidad 360 · Presentación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Accesibilidad 360 · Presentación</dc:title>
  <dc:subject/>
  <dc:creator/>
  <cp:lastModifiedBy/>
  <cp:revision>1</cp:revision>
  <dcterms:created xsi:type="dcterms:W3CDTF">2026-10-09T12:04:18Z</dcterms:created>
  <dcterms:modified xsi:type="dcterms:W3CDTF">2026-10-09T12:04:18Z</dcterms:modified>
</cp:coreProperties>
</file>